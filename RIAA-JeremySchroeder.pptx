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600" b="0" dirty="0"/>
              <a:t>Physical</a:t>
            </a:r>
            <a:r>
              <a:rPr lang="en-US" sz="1600" b="0" baseline="0" dirty="0"/>
              <a:t> vs. Streaming Revenue Growth</a:t>
            </a:r>
            <a:r>
              <a:rPr lang="en-US" sz="1600" b="0" dirty="0"/>
              <a:t>: 2019-2024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750159642789905"/>
          <c:y val="0.26652253347243865"/>
          <c:w val="0.81299956883396907"/>
          <c:h val="0.504584408366210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Sheet2!$G$4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3333CC"/>
            </a:solidFill>
            <a:ln>
              <a:noFill/>
            </a:ln>
            <a:effectLst/>
          </c:spPr>
          <c:invertIfNegative val="0"/>
          <c:cat>
            <c:strRef>
              <c:f>Sheet2!$F$5:$F$7</c:f>
              <c:strCache>
                <c:ptCount val="3"/>
                <c:pt idx="0">
                  <c:v>CD</c:v>
                </c:pt>
                <c:pt idx="1">
                  <c:v>LP/EP</c:v>
                </c:pt>
                <c:pt idx="2">
                  <c:v>All Streaming</c:v>
                </c:pt>
              </c:strCache>
            </c:strRef>
          </c:cat>
          <c:val>
            <c:numRef>
              <c:f>Sheet2!$G$5:$G$7</c:f>
              <c:numCache>
                <c:formatCode>General</c:formatCode>
                <c:ptCount val="3"/>
                <c:pt idx="0">
                  <c:v>541.10120400300002</c:v>
                </c:pt>
                <c:pt idx="1">
                  <c:v>1442.9031221339999</c:v>
                </c:pt>
                <c:pt idx="2">
                  <c:v>13823.68639932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8E-4BEC-B521-5A8CFE6259EE}"/>
            </c:ext>
          </c:extLst>
        </c:ser>
        <c:ser>
          <c:idx val="1"/>
          <c:order val="1"/>
          <c:tx>
            <c:strRef>
              <c:f>Sheet2!$H$4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Sheet2!$F$5:$F$7</c:f>
              <c:strCache>
                <c:ptCount val="3"/>
                <c:pt idx="0">
                  <c:v>CD</c:v>
                </c:pt>
                <c:pt idx="1">
                  <c:v>LP/EP</c:v>
                </c:pt>
                <c:pt idx="2">
                  <c:v>All Streaming</c:v>
                </c:pt>
              </c:strCache>
            </c:strRef>
          </c:cat>
          <c:val>
            <c:numRef>
              <c:f>Sheet2!$H$5:$H$7</c:f>
              <c:numCache>
                <c:formatCode>General</c:formatCode>
                <c:ptCount val="3"/>
                <c:pt idx="0">
                  <c:v>781.16979160699998</c:v>
                </c:pt>
                <c:pt idx="1">
                  <c:v>632.48028503800003</c:v>
                </c:pt>
                <c:pt idx="2">
                  <c:v>9720.9624589110008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8E-4BEC-B521-5A8CFE625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56073376"/>
        <c:axId val="1623374640"/>
      </c:barChart>
      <c:catAx>
        <c:axId val="5560733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3374640"/>
        <c:crosses val="autoZero"/>
        <c:auto val="1"/>
        <c:lblAlgn val="ctr"/>
        <c:lblOffset val="100"/>
        <c:noMultiLvlLbl val="0"/>
      </c:catAx>
      <c:valAx>
        <c:axId val="162337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Dollars</a:t>
                </a:r>
                <a:r>
                  <a:rPr lang="en-US" baseline="0" dirty="0"/>
                  <a:t> (M)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.45047837157742388"/>
              <c:y val="0.709461582728937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073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7593432904012425"/>
          <c:w val="0.1491674389259755"/>
          <c:h val="0.117124979984030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156082">
          <a:shade val="15000"/>
        </a:srgb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7106B-054C-477A-914A-8ED82C501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5B0B3-D101-4935-BD55-08AC429ED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44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0B3-D101-4935-BD55-08AC429EDA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95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26543-A2F0-A676-35F8-9D63046A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50233-E63B-D7D9-20A9-D42BA164A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CB0A2-B6E9-7A93-521D-FDF5277A8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24A34-BE1A-28C5-E224-88247F221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0B3-D101-4935-BD55-08AC429EDA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04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5414-9ACA-CFD5-0BC1-8D94EA88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FCC82-0BF3-A1BC-B9AC-759AFFB7F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8DDAB-CF23-E197-7E6D-CED2709A1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8E864-782A-2E9F-3F05-3D5871964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0B3-D101-4935-BD55-08AC429EDA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20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2895E-7159-5D3C-2B41-8AB1AA6B8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7C354-2A1D-868A-7752-02CB2C90D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7BD47-0643-EBAA-C3DA-B79D3CAE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B7E80-2848-5F77-EF70-FC988B95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146B3-FA69-3EE0-59B2-A2CCAB99C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5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2E1B-34B3-F1B4-C846-E4E60578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B4A91-3A72-395C-3851-35AA7EBDA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709EE-CC65-59FF-390A-31E4B0BC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83EF2-9902-6DAD-FD72-85F77428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3C977-B73B-9BE2-59FD-6D364C9B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0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FF23-FD24-C3EB-8576-0B2E791A7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04121-F2D1-6F98-F861-9A5460FBB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D29A9-5341-EB2A-EC86-1FE58A8F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D1D94-3B08-1285-A72A-07C25204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44FB7-3104-9AAD-4C96-790AEE7C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4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D6EC-41DA-AB72-B75D-16CC08AC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9693D-04FE-0A63-8155-F42702F78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40587-F1B2-0CD2-49E6-98C204BCF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9885F-B4CC-CB10-538A-FE7ABEEF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386C2-BDD6-DD5A-F6AB-73C31DCF3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A4963-0593-AC61-6ECD-2A136FE1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3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4767-0D64-E2FB-A510-7C954B135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1AC2F-E25C-9360-2875-9D58144A4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A5D25-BBA1-15A9-63ED-529A3DD74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3DB8D-F9CC-FA23-2BB8-080BB0D7F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8F2A7-6EE0-2E29-E92D-B44E1537F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7EAB4-39D1-03E7-A8A3-4EF3E9E7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141CD-962E-1DE9-C35E-64730CCE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9FADDC-5909-814D-90A1-01E21E0D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7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7307-673A-9CB7-13C6-C5B037E2B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F1384-944F-7293-3EF0-09B531BF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F44C5-E6C9-0292-D9AB-A8369940A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0E075-3E45-B963-F0F7-1C49CF56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2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5E19E5-61DD-2FDB-8BC0-9353EB2C3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79665-E3CF-4399-112E-E010FAF80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3EA86-24CF-F574-EABF-345F9A821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2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0035-8968-9563-FBB9-CF7BD6ED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D0CF6-53DB-9935-FD07-47F07640F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F6F4C-0A61-4D05-0C53-B93836704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60B69-6FE4-DB58-8CF5-05BD39D4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1BA6D-2A87-D90F-707B-E652F7CE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CD06C-A00F-2BFB-815E-953FF733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9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710C-802C-10E9-DFD9-E3D1D6C8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9CB3FE-0439-5F3D-B212-37DD07C09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E05A1-9101-8BAD-1910-890B7B6D8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2C343-7B86-7DA6-DB44-8CE23CD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9DB30-8276-7372-44ED-725FC948D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3187F-1A06-6E47-FC9C-7508AEE53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8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B4863-88C3-889E-5D79-295E9B5F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FB733-726C-B796-0682-0150B4F1B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E6877-96F4-CB7B-938C-1E4067D1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57BE2-212B-1685-DF0A-4C60851D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3BE7C-BE11-7A74-C086-90A5C848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4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D58787-6075-4F37-A8FC-0285BC20B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BD646-F8FF-4F7A-D409-DF8DC0662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99CF0-85D9-9FAA-A690-7CBCF0643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1D852-D536-803B-5C08-2084150A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27C00-FD3F-5D3A-4B76-977028F1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6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0A737-40DC-6F8C-669D-3B221349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63362-37A2-0CC6-CFF9-15693FA84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CEED6-E27D-CD9E-6948-8FB6B208C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1AACE-6781-4857-9368-73E9AA196DB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30B0A-4063-DDC4-1311-9724A04D7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FBEA6-80A3-8D15-0411-1F4779DF5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E91C9-1C0C-49F2-84C2-7D3A07990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3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762F9DD-1B30-E059-FA6A-45C5F29F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4" y="1535467"/>
            <a:ext cx="9217894" cy="46089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1AD33E-6EA2-7C38-2F9F-BCB40B970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" y="65581"/>
            <a:ext cx="562552" cy="562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89892-63A3-314B-A96D-92D502BB8EB7}"/>
              </a:ext>
            </a:extLst>
          </p:cNvPr>
          <p:cNvSpPr txBox="1"/>
          <p:nvPr/>
        </p:nvSpPr>
        <p:spPr>
          <a:xfrm>
            <a:off x="738908" y="81727"/>
            <a:ext cx="11268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Times New Roman" panose="02020603050405020304" pitchFamily="18" charset="0"/>
              </a:rPr>
              <a:t>Industry revenue has stagnated due to saturation in streaming services.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C3CD17-0092-8EF3-9ED1-D15400A314A5}"/>
              </a:ext>
            </a:extLst>
          </p:cNvPr>
          <p:cNvSpPr/>
          <p:nvPr/>
        </p:nvSpPr>
        <p:spPr>
          <a:xfrm>
            <a:off x="0" y="722824"/>
            <a:ext cx="12192000" cy="807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6C41B-A815-44E6-35FE-487D26CF38CE}"/>
              </a:ext>
            </a:extLst>
          </p:cNvPr>
          <p:cNvSpPr txBox="1"/>
          <p:nvPr/>
        </p:nvSpPr>
        <p:spPr>
          <a:xfrm>
            <a:off x="0" y="6538503"/>
            <a:ext cx="1201651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*Other Media: </a:t>
            </a:r>
            <a:r>
              <a:rPr lang="en-US" sz="105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SoundExchange</a:t>
            </a:r>
            <a:r>
              <a:rPr lang="en-US" sz="105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Distributions, Synchronization, Ringtones &amp; </a:t>
            </a:r>
            <a:r>
              <a:rPr lang="en-US" sz="105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Ringbacks</a:t>
            </a:r>
            <a:r>
              <a:rPr lang="en-US" sz="105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, Kiosk, Download Album, Download Single, Download Music Video, Other Digital</a:t>
            </a:r>
            <a:endParaRPr lang="en-US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5380A5-FE81-AB09-2601-7A5FA0A5CCC2}"/>
              </a:ext>
            </a:extLst>
          </p:cNvPr>
          <p:cNvSpPr txBox="1"/>
          <p:nvPr/>
        </p:nvSpPr>
        <p:spPr>
          <a:xfrm>
            <a:off x="2346034" y="1197653"/>
            <a:ext cx="145934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CAGR: 10%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0490F0-8F44-C63E-9789-4BD650426C56}"/>
              </a:ext>
            </a:extLst>
          </p:cNvPr>
          <p:cNvSpPr txBox="1"/>
          <p:nvPr/>
        </p:nvSpPr>
        <p:spPr>
          <a:xfrm>
            <a:off x="6165275" y="1058365"/>
            <a:ext cx="102061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CAGR: 0.5%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48088C4-BD79-98E7-623C-6F50924E883C}"/>
              </a:ext>
            </a:extLst>
          </p:cNvPr>
          <p:cNvCxnSpPr>
            <a:cxnSpLocks/>
          </p:cNvCxnSpPr>
          <p:nvPr/>
        </p:nvCxnSpPr>
        <p:spPr>
          <a:xfrm>
            <a:off x="5726545" y="1197653"/>
            <a:ext cx="0" cy="42795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D21510C-91A8-7D49-7C5C-0F80793752CE}"/>
              </a:ext>
            </a:extLst>
          </p:cNvPr>
          <p:cNvCxnSpPr>
            <a:stCxn id="18" idx="3"/>
          </p:cNvCxnSpPr>
          <p:nvPr/>
        </p:nvCxnSpPr>
        <p:spPr>
          <a:xfrm>
            <a:off x="3805381" y="1382319"/>
            <a:ext cx="19211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57B90F-4D23-51EF-096F-A96E1EC64FE3}"/>
              </a:ext>
            </a:extLst>
          </p:cNvPr>
          <p:cNvCxnSpPr>
            <a:stCxn id="18" idx="1"/>
          </p:cNvCxnSpPr>
          <p:nvPr/>
        </p:nvCxnSpPr>
        <p:spPr>
          <a:xfrm flipH="1">
            <a:off x="1117600" y="1382319"/>
            <a:ext cx="12284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1D237A-490E-FB0E-40B5-6D3502570666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7185892" y="1381531"/>
            <a:ext cx="544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542F7B2-0EA1-D1BC-9618-33C8C9A939F9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5726545" y="1381530"/>
            <a:ext cx="43873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C62AC467-5899-DDC7-8CA6-A88DA26C6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594" y="4493742"/>
            <a:ext cx="971686" cy="828791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C7218F6F-16B9-27A4-BEF1-845CCF0D3388}"/>
              </a:ext>
            </a:extLst>
          </p:cNvPr>
          <p:cNvSpPr/>
          <p:nvPr/>
        </p:nvSpPr>
        <p:spPr>
          <a:xfrm>
            <a:off x="8266545" y="3260436"/>
            <a:ext cx="1034472" cy="868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95A14A-546D-A37A-AD90-D8657E20E05E}"/>
              </a:ext>
            </a:extLst>
          </p:cNvPr>
          <p:cNvSpPr txBox="1"/>
          <p:nvPr/>
        </p:nvSpPr>
        <p:spPr>
          <a:xfrm>
            <a:off x="8469747" y="1704696"/>
            <a:ext cx="34543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Streaming growth has offset losses in Physical and Other* media revenue, resulting in </a:t>
            </a:r>
            <a:r>
              <a:rPr lang="en-US" sz="1600" b="1" dirty="0"/>
              <a:t>10%</a:t>
            </a:r>
            <a:r>
              <a:rPr lang="en-US" sz="1600" dirty="0"/>
              <a:t> annual growth from </a:t>
            </a:r>
            <a:r>
              <a:rPr lang="en-US" sz="1600" b="1" dirty="0"/>
              <a:t>2014-2021.</a:t>
            </a:r>
          </a:p>
          <a:p>
            <a:endParaRPr lang="en-US" sz="1600" dirty="0"/>
          </a:p>
          <a:p>
            <a:r>
              <a:rPr lang="en-US" sz="1600" dirty="0"/>
              <a:t>Growth from </a:t>
            </a:r>
            <a:r>
              <a:rPr lang="en-US" sz="1600" b="1" dirty="0"/>
              <a:t>2021 – 2024 </a:t>
            </a:r>
            <a:r>
              <a:rPr lang="en-US" sz="1600" dirty="0"/>
              <a:t>has slowed considerably to</a:t>
            </a:r>
            <a:r>
              <a:rPr lang="en-US" sz="1600" b="1" dirty="0"/>
              <a:t> 0.5% </a:t>
            </a:r>
            <a:r>
              <a:rPr lang="en-US" sz="1600" dirty="0"/>
              <a:t>per year, indicating market saturation.</a:t>
            </a:r>
          </a:p>
          <a:p>
            <a:endParaRPr lang="en-US" sz="1600" dirty="0"/>
          </a:p>
          <a:p>
            <a:r>
              <a:rPr lang="en-US" sz="1600" dirty="0"/>
              <a:t>Streaming services drive most industry revenue, accounting for </a:t>
            </a:r>
            <a:r>
              <a:rPr lang="en-US" sz="1600" b="1" dirty="0"/>
              <a:t>78% </a:t>
            </a:r>
            <a:r>
              <a:rPr lang="en-US" sz="1600" dirty="0"/>
              <a:t>of total revenue in 2024.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14C90A-6727-E529-938F-1220B3F703EF}"/>
              </a:ext>
            </a:extLst>
          </p:cNvPr>
          <p:cNvSpPr txBox="1"/>
          <p:nvPr/>
        </p:nvSpPr>
        <p:spPr>
          <a:xfrm>
            <a:off x="10113821" y="763194"/>
            <a:ext cx="2222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Revenue adjusted for inflation</a:t>
            </a:r>
          </a:p>
        </p:txBody>
      </p:sp>
    </p:spTree>
    <p:extLst>
      <p:ext uri="{BB962C8B-B14F-4D97-AF65-F5344CB8AC3E}">
        <p14:creationId xmlns:p14="http://schemas.microsoft.com/office/powerpoint/2010/main" val="314649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A933F-56D4-9962-3BCC-CEEBAB99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0B2E1A4A-B2B3-BCB6-6A35-E8654A0BF191}"/>
              </a:ext>
            </a:extLst>
          </p:cNvPr>
          <p:cNvSpPr/>
          <p:nvPr/>
        </p:nvSpPr>
        <p:spPr>
          <a:xfrm>
            <a:off x="245663" y="845530"/>
            <a:ext cx="5957740" cy="3252408"/>
          </a:xfrm>
          <a:prstGeom prst="rect">
            <a:avLst/>
          </a:prstGeom>
          <a:solidFill>
            <a:srgbClr val="333399">
              <a:alpha val="20000"/>
            </a:srgb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53C0CED-5111-72B4-91B8-3DA8465C0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92" y="1010198"/>
            <a:ext cx="5747207" cy="2269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E4B554-7733-B2A8-A465-19DB0B1D2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" y="65581"/>
            <a:ext cx="562552" cy="562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B06AF6-7EF1-559E-037F-763ED12F5A75}"/>
              </a:ext>
            </a:extLst>
          </p:cNvPr>
          <p:cNvSpPr txBox="1"/>
          <p:nvPr/>
        </p:nvSpPr>
        <p:spPr>
          <a:xfrm>
            <a:off x="691858" y="132050"/>
            <a:ext cx="11500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Physical media shows strong growth which can be leveraged to increased revenue.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61DC2A-C69F-7ED2-8029-EC5B15718A71}"/>
              </a:ext>
            </a:extLst>
          </p:cNvPr>
          <p:cNvSpPr/>
          <p:nvPr/>
        </p:nvSpPr>
        <p:spPr>
          <a:xfrm>
            <a:off x="0" y="722824"/>
            <a:ext cx="12192000" cy="807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2210D-89B4-AD06-BFC8-E26DF0BC71B3}"/>
              </a:ext>
            </a:extLst>
          </p:cNvPr>
          <p:cNvSpPr txBox="1"/>
          <p:nvPr/>
        </p:nvSpPr>
        <p:spPr>
          <a:xfrm>
            <a:off x="6557818" y="887495"/>
            <a:ext cx="5158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 2024, physical media accounted for 11% ($2B) of total revenue.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BFA4B0-CEDD-D2D9-2C09-434D5C05606C}"/>
              </a:ext>
            </a:extLst>
          </p:cNvPr>
          <p:cNvSpPr txBox="1"/>
          <p:nvPr/>
        </p:nvSpPr>
        <p:spPr>
          <a:xfrm>
            <a:off x="6764255" y="1512391"/>
            <a:ext cx="444421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r>
              <a:rPr lang="en-US" sz="1600" b="1" dirty="0"/>
              <a:t>Why is physical media growing?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Perceived superior audio-quality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Engaging User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Loyalty to favorite artists</a:t>
            </a:r>
          </a:p>
          <a:p>
            <a:endParaRPr lang="en-US" b="1" dirty="0"/>
          </a:p>
          <a:p>
            <a:r>
              <a:rPr lang="en-US" sz="1600" b="1" dirty="0"/>
              <a:t>How Physical Media can grow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Physical media drives </a:t>
            </a:r>
            <a:r>
              <a:rPr lang="en-US" sz="1600" b="1" dirty="0"/>
              <a:t>3x-6x </a:t>
            </a:r>
            <a:r>
              <a:rPr lang="en-US" sz="1600" dirty="0"/>
              <a:t>more revenue per unit than streaming.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$15-30/album vs $5/album streaming equivalency*.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Higher loyalty and engagement with artists can be leveraged to grow other revenue streams: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Bundling album sales with streaming services increases likelihood to purchase a paid-tier service.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Royalties for TV, movie, or advertising use.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Concert and live performance revenues</a:t>
            </a:r>
            <a:r>
              <a:rPr lang="en-US" sz="1600"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61EA3A-81C1-4462-863D-015F7113FF49}"/>
              </a:ext>
            </a:extLst>
          </p:cNvPr>
          <p:cNvSpPr txBox="1"/>
          <p:nvPr/>
        </p:nvSpPr>
        <p:spPr>
          <a:xfrm>
            <a:off x="-18474" y="6647767"/>
            <a:ext cx="79432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*Streaming Services earn $.002 - $.004 per stream, 1500 streams is equivalent to an 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sz="105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lbum sale.</a:t>
            </a:r>
            <a:endParaRPr lang="en-US" sz="105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53FA717-A58D-081C-EE6E-AE43630AF3C3}"/>
              </a:ext>
            </a:extLst>
          </p:cNvPr>
          <p:cNvSpPr txBox="1"/>
          <p:nvPr/>
        </p:nvSpPr>
        <p:spPr>
          <a:xfrm>
            <a:off x="517586" y="3279505"/>
            <a:ext cx="54463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Vinyl dominates physical sales, while CDs remain steady.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LP/EP accounted for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70%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($1.4 B) of physical media.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CD accounted for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30%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($540 M)  of physical media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C7A494C-FD02-2C11-A429-D5F921230F43}"/>
              </a:ext>
            </a:extLst>
          </p:cNvPr>
          <p:cNvSpPr txBox="1"/>
          <p:nvPr/>
        </p:nvSpPr>
        <p:spPr>
          <a:xfrm>
            <a:off x="-9547" y="4353266"/>
            <a:ext cx="6451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Vinyl growth rate exceeded streaming service growth by 3x over the past </a:t>
            </a:r>
            <a:r>
              <a:rPr lang="en-US" sz="1400" b="1" dirty="0">
                <a:solidFill>
                  <a:prstClr val="black"/>
                </a:solidFill>
              </a:rPr>
              <a:t>5 years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4506E3C-AB4F-09CC-718C-CABF2B78E4EE}"/>
              </a:ext>
            </a:extLst>
          </p:cNvPr>
          <p:cNvCxnSpPr>
            <a:cxnSpLocks/>
          </p:cNvCxnSpPr>
          <p:nvPr/>
        </p:nvCxnSpPr>
        <p:spPr>
          <a:xfrm>
            <a:off x="83124" y="4268819"/>
            <a:ext cx="6206840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1" name="Chart 100">
            <a:extLst>
              <a:ext uri="{FF2B5EF4-FFF2-40B4-BE49-F238E27FC236}">
                <a16:creationId xmlns:a16="http://schemas.microsoft.com/office/drawing/2014/main" id="{940ADCA0-078A-4385-CADC-AA1047472E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9700982"/>
              </p:ext>
            </p:extLst>
          </p:nvPr>
        </p:nvGraphicFramePr>
        <p:xfrm>
          <a:off x="348793" y="4665279"/>
          <a:ext cx="5747206" cy="1829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A6F770E8-8811-06CF-AA91-4E2BE7784A2A}"/>
              </a:ext>
            </a:extLst>
          </p:cNvPr>
          <p:cNvSpPr txBox="1"/>
          <p:nvPr/>
        </p:nvSpPr>
        <p:spPr>
          <a:xfrm>
            <a:off x="5231683" y="5189219"/>
            <a:ext cx="5813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+42%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555E562-5ED1-9A76-E042-25823E4941B6}"/>
              </a:ext>
            </a:extLst>
          </p:cNvPr>
          <p:cNvSpPr txBox="1"/>
          <p:nvPr/>
        </p:nvSpPr>
        <p:spPr>
          <a:xfrm>
            <a:off x="1567414" y="5485478"/>
            <a:ext cx="647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+128%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DEA50A-CDB7-C55C-F726-7E07F4287DAA}"/>
              </a:ext>
            </a:extLst>
          </p:cNvPr>
          <p:cNvSpPr txBox="1"/>
          <p:nvPr/>
        </p:nvSpPr>
        <p:spPr>
          <a:xfrm>
            <a:off x="1372017" y="5818204"/>
            <a:ext cx="5193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-31%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1E22C14-7CF2-BF84-9106-2BE3B9021C61}"/>
              </a:ext>
            </a:extLst>
          </p:cNvPr>
          <p:cNvSpPr txBox="1"/>
          <p:nvPr/>
        </p:nvSpPr>
        <p:spPr>
          <a:xfrm>
            <a:off x="10097416" y="6624684"/>
            <a:ext cx="2222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Revenue adjusted for inflation</a:t>
            </a:r>
          </a:p>
        </p:txBody>
      </p:sp>
    </p:spTree>
    <p:extLst>
      <p:ext uri="{BB962C8B-B14F-4D97-AF65-F5344CB8AC3E}">
        <p14:creationId xmlns:p14="http://schemas.microsoft.com/office/powerpoint/2010/main" val="339451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60831-6FA4-A24A-30A6-FB16605E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934852-E03E-F336-2043-176060FCB47B}"/>
              </a:ext>
            </a:extLst>
          </p:cNvPr>
          <p:cNvSpPr/>
          <p:nvPr/>
        </p:nvSpPr>
        <p:spPr>
          <a:xfrm>
            <a:off x="83124" y="827867"/>
            <a:ext cx="7638476" cy="5948405"/>
          </a:xfrm>
          <a:prstGeom prst="rect">
            <a:avLst/>
          </a:prstGeom>
          <a:solidFill>
            <a:srgbClr val="333399">
              <a:alpha val="20000"/>
            </a:srgb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912CA-0DB1-7D3E-1AF6-E0328B380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" y="65581"/>
            <a:ext cx="562552" cy="562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80CA4F-BA39-2BF7-CFBF-7118D3018EB8}"/>
              </a:ext>
            </a:extLst>
          </p:cNvPr>
          <p:cNvSpPr txBox="1"/>
          <p:nvPr/>
        </p:nvSpPr>
        <p:spPr>
          <a:xfrm>
            <a:off x="738908" y="81727"/>
            <a:ext cx="11268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services need to move subscribers into paid-tiers to grow revenue.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D24389-54E5-ABDC-231C-E3D65F7A46DB}"/>
              </a:ext>
            </a:extLst>
          </p:cNvPr>
          <p:cNvSpPr/>
          <p:nvPr/>
        </p:nvSpPr>
        <p:spPr>
          <a:xfrm>
            <a:off x="0" y="722824"/>
            <a:ext cx="12192000" cy="807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0A7E9A-4F3B-F3F2-4B23-1C0FE5FF8264}"/>
              </a:ext>
            </a:extLst>
          </p:cNvPr>
          <p:cNvSpPr txBox="1"/>
          <p:nvPr/>
        </p:nvSpPr>
        <p:spPr>
          <a:xfrm>
            <a:off x="8003304" y="1288316"/>
            <a:ext cx="387003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Paid Tier Streaming Services create </a:t>
            </a:r>
            <a:r>
              <a:rPr lang="en-US" sz="2000" b="1" dirty="0"/>
              <a:t>9x</a:t>
            </a:r>
            <a:r>
              <a:rPr lang="en-US" sz="1600" dirty="0"/>
              <a:t> more revenue than non-paid streaming services.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Within the same user pool, moving </a:t>
            </a:r>
            <a:r>
              <a:rPr lang="en-US" sz="1600" b="1" dirty="0"/>
              <a:t>10%</a:t>
            </a:r>
            <a:r>
              <a:rPr lang="en-US" sz="1600" dirty="0"/>
              <a:t> of users will yield a </a:t>
            </a:r>
            <a:r>
              <a:rPr lang="en-US" sz="1600" b="1" dirty="0"/>
              <a:t>$1B </a:t>
            </a:r>
            <a:r>
              <a:rPr lang="en-US" sz="1600" dirty="0"/>
              <a:t>revenue increase.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996EF6-4969-B12A-7CD3-709F4F6347DE}"/>
              </a:ext>
            </a:extLst>
          </p:cNvPr>
          <p:cNvCxnSpPr>
            <a:cxnSpLocks/>
          </p:cNvCxnSpPr>
          <p:nvPr/>
        </p:nvCxnSpPr>
        <p:spPr>
          <a:xfrm>
            <a:off x="7841667" y="3557620"/>
            <a:ext cx="419330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DDC159-ED56-CC39-987D-91BE8BCDC140}"/>
              </a:ext>
            </a:extLst>
          </p:cNvPr>
          <p:cNvSpPr txBox="1"/>
          <p:nvPr/>
        </p:nvSpPr>
        <p:spPr>
          <a:xfrm>
            <a:off x="8003304" y="3949488"/>
            <a:ext cx="38700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Opportunity:</a:t>
            </a:r>
          </a:p>
          <a:p>
            <a:r>
              <a:rPr lang="en-US" sz="1600" dirty="0"/>
              <a:t>Draw on lessons from physical media growth.  Translate higher loyalty and engagement with artists to higher rates of paid subscriptions.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A95FFC-C0FB-3472-DDEE-BA4691F44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84" y="947328"/>
            <a:ext cx="7407564" cy="46297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67AEE97-3295-BA1C-BC75-B94FC513CB75}"/>
              </a:ext>
            </a:extLst>
          </p:cNvPr>
          <p:cNvSpPr txBox="1"/>
          <p:nvPr/>
        </p:nvSpPr>
        <p:spPr>
          <a:xfrm>
            <a:off x="466434" y="5812010"/>
            <a:ext cx="6871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Paid Subscription revenue continues to grow slowly as users move from Ad-Supported or limited tier plans.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7B1A3A-C695-61D2-E95F-B0B3633F48E6}"/>
              </a:ext>
            </a:extLst>
          </p:cNvPr>
          <p:cNvSpPr txBox="1"/>
          <p:nvPr/>
        </p:nvSpPr>
        <p:spPr>
          <a:xfrm>
            <a:off x="10097416" y="6624684"/>
            <a:ext cx="2222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Revenue adjusted for inflation</a:t>
            </a:r>
          </a:p>
        </p:txBody>
      </p:sp>
    </p:spTree>
    <p:extLst>
      <p:ext uri="{BB962C8B-B14F-4D97-AF65-F5344CB8AC3E}">
        <p14:creationId xmlns:p14="http://schemas.microsoft.com/office/powerpoint/2010/main" val="3666725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417</Words>
  <Application>Microsoft Office PowerPoint</Application>
  <PresentationFormat>Widescreen</PresentationFormat>
  <Paragraphs>49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Schroeder</dc:creator>
  <cp:lastModifiedBy>Jeremy Schroeder</cp:lastModifiedBy>
  <cp:revision>21</cp:revision>
  <dcterms:created xsi:type="dcterms:W3CDTF">2026-01-12T04:24:30Z</dcterms:created>
  <dcterms:modified xsi:type="dcterms:W3CDTF">2026-01-12T18:31:26Z</dcterms:modified>
</cp:coreProperties>
</file>